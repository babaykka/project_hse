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fe4c0a940641e2" /><Relationship Type="http://schemas.openxmlformats.org/officeDocument/2006/relationships/extended-properties" Target="/docProps/app.xml" Id="Radfb187d66304e54" /><Relationship Type="http://schemas.openxmlformats.org/officeDocument/2006/relationships/officeDocument" Target="/ppt/presentation.xml" Id="R1f6bd7f5c06741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7f1fa1b0e94181"/>
  </p:sldMasterIdLst>
  <p:notesMasterIdLst>
    <p:notesMasterId xmlns:r="http://schemas.openxmlformats.org/officeDocument/2006/relationships" r:id="Ra364b33b9cfc4c83"/>
  </p:notesMasterIdLst>
  <p:sldIdLst>
    <p:sldId xmlns:r="http://schemas.openxmlformats.org/officeDocument/2006/relationships" id="256" r:id="R78d95b17ebc74e92"/>
    <p:sldId xmlns:r="http://schemas.openxmlformats.org/officeDocument/2006/relationships" id="257" r:id="R6b499502b2c7465a"/>
    <p:sldId xmlns:r="http://schemas.openxmlformats.org/officeDocument/2006/relationships" id="258" r:id="R0702e9d0d4754809"/>
    <p:sldId xmlns:r="http://schemas.openxmlformats.org/officeDocument/2006/relationships" id="259" r:id="R9056979d9abe4bf3"/>
    <p:sldId xmlns:r="http://schemas.openxmlformats.org/officeDocument/2006/relationships" id="260" r:id="R15e681997c5343d4"/>
    <p:sldId xmlns:r="http://schemas.openxmlformats.org/officeDocument/2006/relationships" id="261" r:id="R9a7369278f984d12"/>
    <p:sldId xmlns:r="http://schemas.openxmlformats.org/officeDocument/2006/relationships" id="262" r:id="R8f6c86db805d44d6"/>
    <p:sldId xmlns:r="http://schemas.openxmlformats.org/officeDocument/2006/relationships" id="263" r:id="R2db18c57098a4db5"/>
    <p:sldId xmlns:r="http://schemas.openxmlformats.org/officeDocument/2006/relationships" id="264" r:id="R35673fd2708946a7"/>
    <p:sldId xmlns:r="http://schemas.openxmlformats.org/officeDocument/2006/relationships" id="265" r:id="R5ecd140fa67743ef"/>
    <p:sldId xmlns:r="http://schemas.openxmlformats.org/officeDocument/2006/relationships" id="266" r:id="R78f85fe95d154dca"/>
    <p:sldId xmlns:r="http://schemas.openxmlformats.org/officeDocument/2006/relationships" id="267" r:id="Rd98a08ac512f4224"/>
    <p:sldId xmlns:r="http://schemas.openxmlformats.org/officeDocument/2006/relationships" id="268" r:id="Ra63215ff04944877"/>
    <p:sldId xmlns:r="http://schemas.openxmlformats.org/officeDocument/2006/relationships" id="269" r:id="Rd00ef574eb264fb9"/>
    <p:sldId xmlns:r="http://schemas.openxmlformats.org/officeDocument/2006/relationships" id="270" r:id="Rc97586ccf36d40e6"/>
    <p:sldId xmlns:r="http://schemas.openxmlformats.org/officeDocument/2006/relationships" id="271" r:id="R13ca35b485c544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f1fa1b0e94181" /><Relationship Type="http://schemas.openxmlformats.org/officeDocument/2006/relationships/theme" Target="/ppt/theme/theme1.xml" Id="R5e7d1918c2dc4dc1" /><Relationship Type="http://schemas.openxmlformats.org/officeDocument/2006/relationships/notesMaster" Target="/ppt/notesMasters/notesMaster1.xml" Id="Ra364b33b9cfc4c83" /><Relationship Type="http://schemas.openxmlformats.org/officeDocument/2006/relationships/presProps" Target="/ppt/presProps.xml" Id="R86b0b31f975743a4" /><Relationship Type="http://schemas.openxmlformats.org/officeDocument/2006/relationships/viewProps" Target="/ppt/viewProps.xml" Id="Rc8c73c07cd364071" /><Relationship Type="http://schemas.openxmlformats.org/officeDocument/2006/relationships/tableStyles" Target="/ppt/tableStyles.xml" Id="R77ef1d6ded7845c6" /><Relationship Type="http://schemas.openxmlformats.org/officeDocument/2006/relationships/slide" Target="/ppt/slides/slide1.xml" Id="R78d95b17ebc74e92" /><Relationship Type="http://schemas.openxmlformats.org/officeDocument/2006/relationships/slide" Target="/ppt/slides/slide2.xml" Id="R6b499502b2c7465a" /><Relationship Type="http://schemas.openxmlformats.org/officeDocument/2006/relationships/slide" Target="/ppt/slides/slide3.xml" Id="R0702e9d0d4754809" /><Relationship Type="http://schemas.openxmlformats.org/officeDocument/2006/relationships/slide" Target="/ppt/slides/slide4.xml" Id="R9056979d9abe4bf3" /><Relationship Type="http://schemas.openxmlformats.org/officeDocument/2006/relationships/slide" Target="/ppt/slides/slide5.xml" Id="R15e681997c5343d4" /><Relationship Type="http://schemas.openxmlformats.org/officeDocument/2006/relationships/slide" Target="/ppt/slides/slide6.xml" Id="R9a7369278f984d12" /><Relationship Type="http://schemas.openxmlformats.org/officeDocument/2006/relationships/slide" Target="/ppt/slides/slide7.xml" Id="R8f6c86db805d44d6" /><Relationship Type="http://schemas.openxmlformats.org/officeDocument/2006/relationships/slide" Target="/ppt/slides/slide8.xml" Id="R2db18c57098a4db5" /><Relationship Type="http://schemas.openxmlformats.org/officeDocument/2006/relationships/slide" Target="/ppt/slides/slide9.xml" Id="R35673fd2708946a7" /><Relationship Type="http://schemas.openxmlformats.org/officeDocument/2006/relationships/slide" Target="/ppt/slides/slide10.xml" Id="R5ecd140fa67743ef" /><Relationship Type="http://schemas.openxmlformats.org/officeDocument/2006/relationships/slide" Target="/ppt/slides/slide11.xml" Id="R78f85fe95d154dca" /><Relationship Type="http://schemas.openxmlformats.org/officeDocument/2006/relationships/slide" Target="/ppt/slides/slide12.xml" Id="Rd98a08ac512f4224" /><Relationship Type="http://schemas.openxmlformats.org/officeDocument/2006/relationships/slide" Target="/ppt/slides/slide13.xml" Id="Ra63215ff04944877" /><Relationship Type="http://schemas.openxmlformats.org/officeDocument/2006/relationships/slide" Target="/ppt/slides/slide14.xml" Id="Rd00ef574eb264fb9" /><Relationship Type="http://schemas.openxmlformats.org/officeDocument/2006/relationships/slide" Target="/ppt/slides/slide15.xml" Id="Rc97586ccf36d40e6" /><Relationship Type="http://schemas.openxmlformats.org/officeDocument/2006/relationships/slide" Target="/ppt/slides/slide16.xml" Id="R13ca35b485c544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261b9f73f4c49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3f5290fb9e45f3" /><Relationship Type="http://schemas.openxmlformats.org/officeDocument/2006/relationships/notesMaster" Target="/ppt/notesMasters/notesMaster1.xml" Id="R8e669e40c5e840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2fd41e6f2e479c" /><Relationship Type="http://schemas.openxmlformats.org/officeDocument/2006/relationships/notesMaster" Target="/ppt/notesMasters/notesMaster1.xml" Id="Refde10476d4341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36f1f292df4397" /><Relationship Type="http://schemas.openxmlformats.org/officeDocument/2006/relationships/notesMaster" Target="/ppt/notesMasters/notesMaster1.xml" Id="Rfb678a62134f43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68f27047c244d2" /><Relationship Type="http://schemas.openxmlformats.org/officeDocument/2006/relationships/notesMaster" Target="/ppt/notesMasters/notesMaster1.xml" Id="R620efca7db0348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52af5c8c2340bb" /><Relationship Type="http://schemas.openxmlformats.org/officeDocument/2006/relationships/notesMaster" Target="/ppt/notesMasters/notesMaster1.xml" Id="R416dd8e4f1de48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ca4cf5d91f48ad" /><Relationship Type="http://schemas.openxmlformats.org/officeDocument/2006/relationships/notesMaster" Target="/ppt/notesMasters/notesMaster1.xml" Id="Rdaa73f914f534a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615982847347b7" /><Relationship Type="http://schemas.openxmlformats.org/officeDocument/2006/relationships/notesMaster" Target="/ppt/notesMasters/notesMaster1.xml" Id="Rd0a013f95e964b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d5027c4a8c4f01" /><Relationship Type="http://schemas.openxmlformats.org/officeDocument/2006/relationships/notesMaster" Target="/ppt/notesMasters/notesMaster1.xml" Id="R8323764c85404d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0778eae0a6461c" /><Relationship Type="http://schemas.openxmlformats.org/officeDocument/2006/relationships/notesMaster" Target="/ppt/notesMasters/notesMaster1.xml" Id="R95f76cc2b90047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36992846684856" /><Relationship Type="http://schemas.openxmlformats.org/officeDocument/2006/relationships/notesMaster" Target="/ppt/notesMasters/notesMaster1.xml" Id="Re4f7e17457804d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8c484fdc054ee7" /><Relationship Type="http://schemas.openxmlformats.org/officeDocument/2006/relationships/notesMaster" Target="/ppt/notesMasters/notesMaster1.xml" Id="Rb3fc8ea6ba9347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f86e8877df45b6" /><Relationship Type="http://schemas.openxmlformats.org/officeDocument/2006/relationships/notesMaster" Target="/ppt/notesMasters/notesMaster1.xml" Id="Ra97d23e798424f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4565a0fbfd434e" /><Relationship Type="http://schemas.openxmlformats.org/officeDocument/2006/relationships/notesMaster" Target="/ppt/notesMasters/notesMaster1.xml" Id="Rcbfa7efc4a4443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f3c0bd467342cd" /><Relationship Type="http://schemas.openxmlformats.org/officeDocument/2006/relationships/notesMaster" Target="/ppt/notesMasters/notesMaster1.xml" Id="Rfe22d01624c442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163f2512cc4e99" /><Relationship Type="http://schemas.openxmlformats.org/officeDocument/2006/relationships/notesMaster" Target="/ppt/notesMasters/notesMaster1.xml" Id="R6be475d8b06e43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c5c4aae28b4771" /><Relationship Type="http://schemas.openxmlformats.org/officeDocument/2006/relationships/notesMaster" Target="/ppt/notesMasters/notesMaster1.xml" Id="Re507bf2012b240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c16d6e1ea480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b8a58b39e264860" /><Relationship Type="http://schemas.openxmlformats.org/officeDocument/2006/relationships/slideLayout" Target="/ppt/slideLayouts/slideLayout2.xml" Id="Rf80e05c8c59045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0e05c8c59045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122f6a9ad343d7" /><Relationship Type="http://schemas.openxmlformats.org/officeDocument/2006/relationships/notesSlide" Target="/ppt/notesSlides/notesSlide1.xml" Id="Rf3a7ff838ded47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6a7a703cac4eee" /><Relationship Type="http://schemas.openxmlformats.org/officeDocument/2006/relationships/notesSlide" Target="/ppt/notesSlides/notesSlide2.xml" Id="R0651f90c228b40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00e37bbf0843a4" /><Relationship Type="http://schemas.openxmlformats.org/officeDocument/2006/relationships/notesSlide" Target="/ppt/notesSlides/notesSlide3.xml" Id="Raa6879cf873445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65cc2c0be043fb" /><Relationship Type="http://schemas.openxmlformats.org/officeDocument/2006/relationships/notesSlide" Target="/ppt/notesSlides/notesSlide4.xml" Id="Rc596631ba2b148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8bf07d084948b4" /><Relationship Type="http://schemas.openxmlformats.org/officeDocument/2006/relationships/notesSlide" Target="/ppt/notesSlides/notesSlide5.xml" Id="Rc86d396b69264d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753a78c3df4ad7" /><Relationship Type="http://schemas.openxmlformats.org/officeDocument/2006/relationships/notesSlide" Target="/ppt/notesSlides/notesSlide6.xml" Id="R7f41eb8d4bb040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68ec6455564480" /><Relationship Type="http://schemas.openxmlformats.org/officeDocument/2006/relationships/notesSlide" Target="/ppt/notesSlides/notesSlide7.xml" Id="Rc0a9ab3cd6dd4f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94ff24ffe24c7c" /><Relationship Type="http://schemas.openxmlformats.org/officeDocument/2006/relationships/notesSlide" Target="/ppt/notesSlides/notesSlide8.xml" Id="Rd3412f71547045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e2b8f3f25646a0" /><Relationship Type="http://schemas.openxmlformats.org/officeDocument/2006/relationships/notesSlide" Target="/ppt/notesSlides/notesSlide9.xml" Id="R26f7f9edf14940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0ac11da1b342c9" /><Relationship Type="http://schemas.openxmlformats.org/officeDocument/2006/relationships/notesSlide" Target="/ppt/notesSlides/notesSlide10.xml" Id="R6e79f4f224ec46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9b034c1ad04e40" /><Relationship Type="http://schemas.openxmlformats.org/officeDocument/2006/relationships/notesSlide" Target="/ppt/notesSlides/notesSlide11.xml" Id="R523f820ea6fb47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7cb5bdf84a4fff" /><Relationship Type="http://schemas.openxmlformats.org/officeDocument/2006/relationships/notesSlide" Target="/ppt/notesSlides/notesSlide12.xml" Id="R82afbdc529404f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d5cbb321694803" /><Relationship Type="http://schemas.openxmlformats.org/officeDocument/2006/relationships/notesSlide" Target="/ppt/notesSlides/notesSlide13.xml" Id="R72993469b8b441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4c0de0644f48d9" /><Relationship Type="http://schemas.openxmlformats.org/officeDocument/2006/relationships/notesSlide" Target="/ppt/notesSlides/notesSlide14.xml" Id="Rf20efc231b2c44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4b7ac663e44363" /><Relationship Type="http://schemas.openxmlformats.org/officeDocument/2006/relationships/notesSlide" Target="/ppt/notesSlides/notesSlide15.xml" Id="R9493f2e0cf5343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fca1af01e14a5e" /><Relationship Type="http://schemas.openxmlformats.org/officeDocument/2006/relationships/notesSlide" Target="/ppt/notesSlides/notesSlide16.xml" Id="R814b3b30e92245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269F12-0AC2-47F2-9F12-5FDDAAC0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42E85-CD06-4EE8-B72E-800CEC6A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445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01A8C-1785-4151-A61C-3C9B2DA9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800100"/>
            <a:ext cx="1962150" cy="2857500"/>
          </a:xfrm>
          <a:prstGeom xmlns:a="http://schemas.openxmlformats.org/drawingml/2006/main" prst="roundRect">
            <a:avLst>
              <a:gd name="adj" fmla="val 17476"/>
            </a:avLst>
          </a:prstGeom>
          <a:solidFill xmlns:a="http://schemas.openxmlformats.org/drawingml/2006/main">
            <a:srgbClr val="1E5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C62CE-E03D-458B-88DE-053917E6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19200"/>
            <a:ext cx="1390650" cy="5143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FE2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F6017-F95E-47DD-83E7-DA061C19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38350"/>
            <a:ext cx="914400" cy="139065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C9D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6B8BF-2178-46A6-9DE9-7095BCBF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1600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B3BD3-66D2-4E5F-80DA-E25543BF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33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Wash&amp;Go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7FAC1-9E4D-4630-96AE-1CBF4558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DEFF2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>
                <a:solidFill>
                  <a:srgbClr val="DDEFF2"/>
                </a:solidFill>
                <a:latin typeface="Aptos Display"/>
                <a:ea typeface="Aptos Display"/>
                <a:cs typeface="Aptos Display"/>
              </a:rPr>
              <a:t>Выбор первой точки роботизированной автомойки в Москве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04971-B891-4C8E-943C-965A15C7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1DE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1DEE1"/>
                </a:solidFill>
                <a:latin typeface="Aptos"/>
                <a:ea typeface="Aptos"/>
                <a:cs typeface="Aptos"/>
              </a:rPr>
              <a:t>анализ конкурентов и географии размещения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A0A23-BB31-4458-BFC1-FFA7C524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371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649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50349-D79E-4F62-9115-41692F0F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1 605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219A7-79CF-44B8-9BEA-97414C83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ED4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ED4D8"/>
                </a:solidFill>
                <a:latin typeface="Aptos"/>
                <a:ea typeface="Aptos"/>
                <a:cs typeface="Aptos"/>
              </a:rPr>
              <a:t>строк данных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7197C-AAA8-44E7-AB49-71DCF35C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09900"/>
            <a:ext cx="1371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649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B01D6-1E9A-4D4B-8D7B-1492FBBE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813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5F4EF-91AA-4A1C-B2DC-079A58B3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ED4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ED4D8"/>
                </a:solidFill>
                <a:latin typeface="Aptos"/>
                <a:ea typeface="Aptos"/>
                <a:cs typeface="Aptos"/>
              </a:rPr>
              <a:t>районов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FCC66-E257-4CB3-B4B4-EA8096BC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09900"/>
            <a:ext cx="1371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649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335F2-8A27-4628-8314-90ADD8FC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813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F0315-F0F4-455B-87F0-A4E034E8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ED4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ED4D8"/>
                </a:solidFill>
                <a:latin typeface="Aptos"/>
                <a:ea typeface="Aptos"/>
                <a:cs typeface="Aptos"/>
              </a:rPr>
              <a:t>фактора рейтинга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3F120-3935-492C-A618-FFCBEE81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9900"/>
            <a:ext cx="1371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649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6E845A-2223-4EE7-9D17-69B9283D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813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0.800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208AF-273F-4AD6-BB97-F816F859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ED4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ED4D8"/>
                </a:solidFill>
                <a:latin typeface="Aptos"/>
                <a:ea typeface="Aptos"/>
                <a:cs typeface="Aptos"/>
              </a:rPr>
              <a:t>балл лидера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9B05C-AEA7-4A87-A4EE-A538BBC0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6573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222A"/>
          </a:solidFill>
          <a:ln xmlns:a="http://schemas.openxmlformats.org/drawingml/2006/main" w="9525">
            <a:solidFill>
              <a:srgbClr val="2A59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78544F-C21D-481D-8B83-745E702B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Данные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C613AA-A342-4042-B4E5-6D7C528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6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6D9"/>
                </a:solidFill>
                <a:latin typeface="Aptos"/>
                <a:ea typeface="Aptos"/>
                <a:cs typeface="Aptos"/>
              </a:rPr>
              <a:t>PortalWash + OSM + районы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A0854-7657-440D-8229-C40C2071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053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2D5BCF-5264-4D64-90C8-3D67EFDD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387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CAC873-3109-4764-8EF3-C1918591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72000"/>
            <a:ext cx="16573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222A"/>
          </a:solidFill>
          <a:ln xmlns:a="http://schemas.openxmlformats.org/drawingml/2006/main" w="9525">
            <a:solidFill>
              <a:srgbClr val="2A59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4602E0-5671-46E6-B779-2326D5E6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244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Расчет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742047-8231-43A1-B36D-BD2FDCDE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72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6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6D9"/>
                </a:solidFill>
                <a:latin typeface="Aptos"/>
                <a:ea typeface="Aptos"/>
                <a:cs typeface="Aptos"/>
              </a:rPr>
              <a:t>конкуренты, плотность, трафик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115FBD-2675-4E45-B78F-62B05A6C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053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3B37B3-1D8D-455C-AA0B-218C71D9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387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D56CD1-EEA4-4CD6-AF13-714F0FEA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72000"/>
            <a:ext cx="16573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9525">
            <a:solidFill>
              <a:srgbClr val="2A59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5FA59E-4561-47C4-A598-01F75E5B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244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Выбор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9F9622-AFCB-46D5-9DEB-DEC4D932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72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короткий список для проверки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CCEA27-1EFF-4C4B-B351-31FC8B2F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30505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0B222A"/>
          </a:solidFill>
          <a:ln xmlns:a="http://schemas.openxmlformats.org/drawingml/2006/main" w="9525">
            <a:solidFill>
              <a:srgbClr val="2A59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2F18E8-1B10-4E28-B58C-58BD5608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863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ED4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ED4D8"/>
                </a:solidFill>
                <a:latin typeface="Aptos"/>
                <a:ea typeface="Aptos"/>
                <a:cs typeface="Aptos"/>
              </a:rPr>
              <a:t>Топ модели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E8D0D5-335C-4A8B-BEBA-FD3C2813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7205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 Марьино       0.800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  Ярославский   0.735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 Отрадное      0.593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25DC38-ADDF-43A1-BC8A-D0E8911E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43471C-AB26-4F52-929A-19CBB4D2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404278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833DB3-D262-4CEE-B90A-3988BFAE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79EA0-16DE-48F4-BA37-2F9555F0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8E821-BE78-4F89-89BE-54048D71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53B7C-7547-4A8E-BE31-8733078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Логика выбора района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74662-3C6F-4B7E-94DE-8687D155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Процесс идет от открытых данных к рейтингу, проверке устойчивости и короткому списку.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55DC5-EB90-4990-843C-7A94C677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2152650" cy="16573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C9453-0ABE-440D-8411-B9E980E9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2152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1DB67-4900-4DCD-ADA2-4B4B63BE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AB50F-A2A5-4EC6-8766-3DEFB017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066D9-E69D-4FD7-9812-54D5D53E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43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Данные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9A924-E9D6-4F20-8038-969CBE8B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PortalWash, OSM</a:t>
            </a:r>
          </a:p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и районы-кандидаты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B8D11-759B-4F4A-8F3D-998E813B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62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73B86-3DC7-4C65-82AE-86B4EA22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764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1BE98-2584-4908-A551-3BB739BC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81150"/>
            <a:ext cx="2152650" cy="16573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469FD-7F5E-434C-B7B3-3B8AE6C7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81150"/>
            <a:ext cx="2152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FAC04-0AE5-441D-93C9-42F0473A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431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AB9F2-C397-4920-BA18-476BCAAF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383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FFD23-F21C-41EE-B4AE-EE1A1537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43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Расчет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15F6A-EEC9-4106-891B-AC8C9740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336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плотность, трафик,</a:t>
            </a:r>
          </a:p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аренда, конкуренты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2C67D-82D5-49C3-BA77-D17041AB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62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5BEE3B-4854-42EC-87AD-72563F91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764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AB6C5-90DA-421E-A13B-076EA9E3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2152650" cy="16573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51628-A724-4F3E-8484-40DAF915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2152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DE016-9410-407C-8A72-C3850F3A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3E6EF4-B215-4C91-80E0-57508639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5F3294-5EED-4659-BB12-B143A134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43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Рейтинг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360019-35DE-402D-8AF8-336DB68B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общий балл</a:t>
            </a:r>
          </a:p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для 10 районов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35AC5E-76A1-43C5-8F75-DEA8E37A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62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973C91-B60A-4512-91FB-41D724C9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764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A4B25-16D6-4916-A2EE-41E3AA12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81150"/>
            <a:ext cx="2152650" cy="16573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27A67F-113A-4410-A4B1-9B2B2CF6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81150"/>
            <a:ext cx="2152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EB4D7D-E586-4766-81F5-FD45EC20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431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B95FA7-FA4B-4589-BA65-634FCF6F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383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6B530A-FC3E-4251-9D03-BF4E4C21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43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Проверка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1FE35D-EDF0-4899-93BF-BC658377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336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устойчивость</a:t>
            </a:r>
          </a:p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и экономика точки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95F9D0-8C57-4ACD-817E-A8F750FD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657225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170197-1987-491B-87F6-7C4A346F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Формула оценки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655D31-E456-4504-9BD6-00AF1225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1433513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9905BC-151D-44CC-93CE-FE35960C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14335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97941A-5279-47F5-94D9-C9AF8CF1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143351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плотность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2DB04C-BF16-4D13-B30A-BABF2BA6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4457700"/>
            <a:ext cx="1228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4F9844-628B-411C-A2E8-1B2F9C48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4533900"/>
            <a:ext cx="12287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0FF4C8-7868-4FA0-9B02-156F945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4819650"/>
            <a:ext cx="12287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трафик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A84F24-7C4C-4A91-80F2-6838CDC4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44577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C1F799-B44D-493B-85CC-92C9E15F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45339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4C972D-0879-444A-BDFA-F5CB0000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48196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конкуренция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721E3D-CD15-47F9-8878-EB24B69A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4457700"/>
            <a:ext cx="614363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252072-65E8-4A00-B078-DC5A650D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4533900"/>
            <a:ext cx="61436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0D1C95-4F60-4D1F-AE57-8AB418A4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4819650"/>
            <a:ext cx="61436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аренда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587531-3A18-43FE-9B02-9E9F26CD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балл = 0.35 × плотность + 0.30 × трафик + 0.20 × конкуренция + 0.15 × аренда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12E921-45DC-47F8-B19D-23A051E3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329565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E6D8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77654F-C735-49D4-9819-976A7C52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На выходе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B8F828-5AE0-4071-8F3B-98B19644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86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ABF2B2-8EE5-4B87-A1AA-4DFA1356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рейтинг 10 районов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DC7293-6A14-4899-BDF5-D1BA7FB4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33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73FC04-AEA7-40FB-B997-9D73083A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86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проверка лидера при других весах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E383AA-D6D2-4EA7-8602-75FA78B3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81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5DEE7E-4E41-4970-AA7F-479ADFE2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339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короткий список для выезда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C3C4A9-409C-4ED7-B9EE-5DBD291B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8D521B-59C9-4900-9041-8C557D48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76448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A4259C-534F-4775-9E07-35455D13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CA824-C18E-4A51-BC22-1B257B58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76DCA-0DAA-48A5-90ED-6DB7688A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F5449-FBF4-4BAD-B60C-89D98EF5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Карта источников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AC6FD-7BAD-4492-8116-B403E5A9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Данные разделены на сырые выгрузки, входную таблицу районов и итоговые расчеты.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80597-EFEC-415B-B17C-B1DC31F7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211455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1A90F-BBD7-416A-A1C6-EC4A8BF4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D8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F7D8C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81D1E-9048-45D1-8B01-E7B9E91D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адресов PortalWash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52440-7ABD-43EE-B2BD-80505FC9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466850"/>
            <a:ext cx="211455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5543C-DD62-420C-A215-03AC4000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764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A76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D9A76A"/>
                </a:solidFill>
                <a:latin typeface="Aptos Display"/>
                <a:ea typeface="Aptos Display"/>
                <a:cs typeface="Aptos Display"/>
              </a:rPr>
              <a:t>1 591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9E1BB-4BDC-4C44-9527-001DCF2A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5265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автомойки OSM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81D7E-171F-40A5-8C2D-CFE2F77A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211455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E73F8-CAA0-4D86-8E4B-1FD28845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764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AA6B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5AA6B3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3A5E7-5411-4160-8809-A21A4624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5265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районов-кандидатов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20744-74EB-4606-9A96-063772AB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66850"/>
            <a:ext cx="211455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42D89-23EF-452E-94C7-CFD27F43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E8C61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5E8C61"/>
                </a:solidFill>
                <a:latin typeface="Aptos Display"/>
                <a:ea typeface="Aptos Display"/>
                <a:cs typeface="Aptos Display"/>
              </a:rPr>
              <a:t>1 605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D81A5-301A-4670-8659-389D1FDE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5265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строк сырых данных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4423A9-B44F-4F0B-9804-14F243B0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24955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C4F99-20C9-4325-9F31-CC35D56B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10D94-63E7-4F6D-9510-6462BA4D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57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PortalWash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B7D765-1197-4465-9778-1F0A530E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data/raw/portal_addresses.csv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4CAEC-4E8F-48C3-A85F-A344646E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24955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995C2-6EFD-433D-B07C-87CD0A59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E0F12-C968-4785-B398-E33AF2C2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053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OpenStreetMap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A8D9F-0F12-40BA-AABC-F8B52A68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53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data/raw/osm_car_washes.csv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E0A343-9399-4B1B-BD0C-774F36EF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24955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0731A3-E01E-4255-B751-45065C97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97F58-F78F-4590-9C08-E427F4D7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531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Районы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646F90-F033-4261-971E-833D910E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000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data/input/candidate_places.csv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6B595C-F2C1-4CF4-95B6-DA4FE09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24955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18FAC0-E180-4BE9-93E5-FF496649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DD6F3D-08DE-4023-A373-EA0A63E8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053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pandas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E70B8-3F3C-4538-BDE5-13A915B0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53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объединение и расчет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2B46F7-88DA-4E87-8207-0DF3EDFD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72000"/>
            <a:ext cx="24955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F2A33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4A4D9D-0825-4BF9-9B0E-674FD1C6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72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3C5A26-6330-40CD-97D7-20470CF3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Итоговая таблица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0B49C6-0201-45CE-834D-BDFD4F03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9D6D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9D6D9"/>
                </a:solidFill>
                <a:latin typeface="Aptos"/>
                <a:ea typeface="Aptos"/>
                <a:cs typeface="Aptos"/>
              </a:rPr>
              <a:t>data/processed/location_scores.csv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1752B3-7BD9-4521-9815-7DB7887D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CFCA93-CA67-4A5D-8CB5-F4976930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149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18B475-5C88-44D9-99C6-7DEBD788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62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8E3FB9-02A3-4FCF-8B9E-4CE28407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67150"/>
            <a:ext cx="28575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61D38D-7778-4324-BE3D-DA4D4B74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149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882032-5673-45A6-BA18-425CFDA7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91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47809C-4E9B-442F-AEEF-C30D34DF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1490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FFB194-6359-464B-A20C-4C4B10EE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91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8C9B66-A6CF-45B5-87E1-074F0B4C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A80"/>
                </a:solidFill>
                <a:latin typeface="Aptos"/>
                <a:ea typeface="Aptos"/>
                <a:cs typeface="Aptos"/>
              </a:rPr>
              <a:t>Сырые данные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F55E3C-8F44-47ED-AA05-41050B37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A80"/>
                </a:solidFill>
                <a:latin typeface="Aptos"/>
                <a:ea typeface="Aptos"/>
                <a:cs typeface="Aptos"/>
              </a:rPr>
              <a:t>Обработка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8AA734-A33A-4F3E-BE0E-9D309718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A80"/>
                </a:solidFill>
                <a:latin typeface="Aptos"/>
                <a:ea typeface="Aptos"/>
                <a:cs typeface="Aptos"/>
              </a:rPr>
              <a:t>Результат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9921FE-05E1-44D8-A42E-55F2DE03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721245-A40F-4793-BE94-7C6BF1B8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96493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B83CFC-1681-41DB-9CB8-C2CADF94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427DD-517D-4AF1-8AE0-AE5A73AD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ED2E2-82DC-4ABB-9A20-003814A9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41B3C-11FF-4F7F-899D-BC4F2978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Пайплайн обработки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551F8-50DF-42DB-8EB8-D8CE97A8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От открытых источников до рекомендации: пять шагов, которые связывают данные с выводом.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F4C71-D85D-48EF-A01E-6B0FEF4B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17526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E60F9-6CEE-4435-8DFB-E2602D2D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14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592F9-F894-4819-987C-D7745696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Шаг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091A8-9554-4333-A17C-A81D28D4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Сбор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0FB8F-940F-4CA3-8CE9-14AA9221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requests, BeautifulSoup,</a:t>
            </a:r>
          </a:p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Overpass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2D750-29B4-4DD7-8623-07739766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765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F33EF-FC27-44ED-A005-53B668CD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908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4BB8D-5B8D-47F4-9971-1C46A5A6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47850"/>
            <a:ext cx="17526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03426-8E22-4D3F-B96C-B23F7A21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95500"/>
            <a:ext cx="514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F7C71-6B1A-4D8E-B207-AD308C8B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526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Шаг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C7F9B-332A-41F8-B43B-2BBC2378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Очистка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4B0BC-A5E1-4B1B-8849-8C70C041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таблицы приводятся</a:t>
            </a:r>
          </a:p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к единому виду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7370E-2D54-45BB-8470-DC690182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765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1871C-DCCE-4B22-8BCB-033CB60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908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7979E-295A-4400-B308-25F68C13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47850"/>
            <a:ext cx="17526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C22DB-D1D9-4873-907E-C6BFCB2C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95500"/>
            <a:ext cx="514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B1B89-ABC4-4E3A-A9A6-B1E6C490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526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Шаг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34F39-8C59-4F2F-95E7-8A365306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71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Георасчет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23570D-9CC9-4045-AD2E-24662A04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9085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расстояние до автомоек</a:t>
            </a:r>
          </a:p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в радиусе 3 км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1B792F-7871-4AD0-B7F2-33A05A26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765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54B010-0790-4F57-B505-3D954910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908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D07C04-1141-45C3-8B8F-BD22321A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47850"/>
            <a:ext cx="17526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251D1D-61B6-4E78-AFF2-AAA8261E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95500"/>
            <a:ext cx="514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E75FED-E2DC-49E4-A80C-E7479374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526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Шаг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653AB2-9C55-4F20-B1CC-6EAC27EE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Скоринг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E12409-E6E3-402C-9607-1C4C3B7B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9085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нормализация факторов</a:t>
            </a:r>
          </a:p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и итоговый балл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51392D-A555-49C3-87FB-E54F693D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765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DFB68F-85D7-43EA-BA54-2AE0655B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908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736D71-0B14-47F7-AC29-2F7D2841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47850"/>
            <a:ext cx="17526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360254-AFDA-4C89-9990-68319CBC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514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F65F58-8337-4017-B680-BA7712B8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526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Шаг 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6A61C8-EDBB-4024-83A2-F1A00BD2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Вывод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520DD2-095F-415E-893B-67A6C962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9085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графики, экономика</a:t>
            </a:r>
          </a:p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и короткий список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D4FB1D-D00E-4E6A-B5DE-3124C17A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19240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2CE32B-0554-4534-81FA-8EB7E957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244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data/raw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3E7E02-74EA-4D19-8743-938C0E4D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720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сырые выгрузки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CD0C95-BA2A-4991-B54D-98549739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52950"/>
            <a:ext cx="19240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F41350-3386-4802-A374-872C3842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244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data/processed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A5A2CC-AA1B-421F-AD7C-894BB662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720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итоговая таблица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E349CC-D954-49E9-9A22-9371628D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52950"/>
            <a:ext cx="19240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5DB4B2-7744-4094-8C98-F26B9DBC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244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figures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65EA63-7AC0-4D5E-8692-542FB1E4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720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графики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70C165-215F-4B84-A0A7-8052A4FC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52950"/>
            <a:ext cx="19240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37E1E2-DAFE-4BCD-8257-CF72211B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244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97F653-D0FB-4E54-A1DE-7847A571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720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презентация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FA069F-AB2B-4DFD-A68A-406CFBE0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678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88A5B0-FF1B-41EB-B1C3-F19607EB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0547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Связь с данными: выводы построены от location_scores.csv и unit_economics.csv.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E4F93A-786F-4C84-96C3-0180CC05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F40A7A-A993-41E3-B339-4AB056EA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961239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D82500-8F16-4342-A311-76122DE6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57AD3-F6BD-44D3-8189-0097CE25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856D0-C7AF-456B-852F-48581A33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B3EB1-BB20-4CA7-B24E-23B74AE9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Метод рейтинга районов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C32EB-7228-42FE-A89E-A07CED82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Каждый критерий приводится к шкале 0-1, затем собирается общий балл.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F34FA-B803-420C-8E6D-9BCED27E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2667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968E2-835C-4537-8B6E-BB4A339A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08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ED714-CAE4-49AB-8CAF-11CB0209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Плотность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6A9F4-EC8B-43B4-A342-AB86C4D0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81250"/>
            <a:ext cx="2286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ABF50-274C-489A-BFB2-A341F608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908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7BFB5-5C98-4E82-9A40-AE7DC47E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4322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Трафик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3F1A0-BD91-4896-B7EC-E507A5FF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1524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A8BCB-8A4D-42EB-84E1-2469DFFF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A0346-DCCE-454C-BD93-74D3439A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432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Конкуренция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2640F-B54F-45DE-B8E8-325F4686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1143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8A9A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C06B8-3BE6-41F2-9019-0B146A13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908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2A080-6F3E-463F-8F06-894B6490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432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Аренда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CFF5A-5570-4C94-BB8A-824B973C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9429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C4ACE-E84C-4B10-9867-552A0C05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148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балл = 0.35 × плотность + 0.30 × трафик + 0.20 × конкуренция + 0.15 × аренда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A1B6B-9526-41E6-8C37-433FE5CF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5295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У аренды и конкуренции обратная логика: чем ниже значение, тем лучше для запуска.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AC30A6-9A48-4DA0-BA0B-F5F2AD3C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CD25E2-E3F0-4B36-89F4-0C4F7576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72142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1A733B-D321-4726-8661-3F7263DC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678E8-5E20-4DA6-8C66-C3484AF5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BD3F8-DC20-4537-82EF-B91B5569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0F2EE-2D0F-48CA-92FD-B289193A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Топ районов по итоговому баллу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CF5D3-5F41-437C-9926-7931FB98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Главный результат модели: первые кандидаты для проверки площадки.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13529-7BEF-49A7-90AE-7B55C9CA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716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B2F33-8F14-42A5-939A-73ED2D09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8117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9BF87-E14B-49FB-A9CE-2FAEC5DD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81175"/>
            <a:ext cx="706243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26628-FEEB-4F1C-A9EE-4A9CA89B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389" y="17430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0.800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75097-966E-4CFB-BEEA-30455258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88369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4870D-B1BB-4E8E-8771-40161A90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97894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709BB-C113-412B-8B7D-6777C732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97894"/>
            <a:ext cx="648861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96DA2-569D-4C2D-94AF-D8C8C853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566" y="2159794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0.735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E5E7B-80E8-43B8-89BD-EA575803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5088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16F4C-5866-40CB-84D5-3E7BFE9B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14613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2FA5A-0C3E-4C6E-8A9F-ED501E55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14613"/>
            <a:ext cx="523503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5E01D-EE0D-4C8B-86F3-13562F4A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983" y="2576513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0.593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20D34-A357-47FC-AC96-CF6BE1F7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1806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Люблино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B7F8A-06E4-40AF-993B-1FEA95AC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31331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C756C3-786C-417B-A30F-B2D4E1D1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31331"/>
            <a:ext cx="504081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00535-2A84-4F39-95F8-60CF37AD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766" y="2993231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0.571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01A39-8105-49A1-A0DE-7FC30F31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Очаково-Матвеевское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A83F3-0F5A-4953-B51E-3111DDBB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48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239DA1-5BFC-41BC-8F87-4A21A125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48050"/>
            <a:ext cx="391965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96184E-6FC2-41D5-83BA-61F9E1A0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604" y="3409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0.444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55BCF0-064E-4785-A8A0-4A95FED6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244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Обручевский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20349F-E9C2-4C32-B0E8-68F4C3E9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64769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007D2A-54AB-494E-9781-ECA28080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64769"/>
            <a:ext cx="366364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7BB569-43A7-47E1-AC13-B181E7C1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590" y="3826669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0.415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06870F-BBC1-4FE8-8C60-9C681CE8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1963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Хорошевский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2D5A98-B41F-4944-8458-721754BA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81488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501429-F9FD-458B-B84E-A54FA300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81488"/>
            <a:ext cx="33546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AEC361-42D4-4E41-B6B6-27733D31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609" y="4243388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0.380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3C1487-CDE9-4C73-BC34-A19CE474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88681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Южное Бутово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FEAC87-B3F4-4F21-AD9A-8148380A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98206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C3C934-EF7C-4D7B-8D68-EB273E8E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98206"/>
            <a:ext cx="333700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CCEC51-F5AC-44C2-A6DD-501DD220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952" y="4660106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0.378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E64DEF-F390-49C0-8B49-4C191487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340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Лидеры сочетают плотность населения, автомобильный трафик и приемлемую конкурентную нагрузку.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E5807A-B966-4231-AB08-8451D2AE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Источник: data/processed/location_scores.csv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2A577C-468A-4447-B255-BD71696A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C2F1DD-427F-41C4-90EA-30EAC457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73282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54D79-6187-4AFE-92F3-9FA606E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A78DE-6C8A-46E5-AF13-2E2A02CC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78765-EFB3-4A5F-9FBF-50E4C3F9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6A3C1-A82D-4B16-866D-A416CB5E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Таблица кандидатов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F77C7-E662-429C-A846-647864F1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Чтобы решение было проверяемым, все районы сведены в одну расчетную таблицу.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26B9F-5366-423C-8FBF-65C3D24F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726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98606-F0FC-4263-B626-D06D7E43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Район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07902-8A53-49DB-B20D-127009E8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3355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Балл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563F4-63AC-4787-A5FB-6CB019FE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Плотность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AD70E-3045-4FF6-924A-9E4EEB09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335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Трафик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BB5F1-917E-4EE4-A38F-9EABFC88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3355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Аренда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97F10-F499-434F-953E-4C051C1E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335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Конкуренты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2A41C-4B01-4392-9728-8B5CE6DD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F6F7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BFDDC-2274-4869-B3C2-35284E96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D0AEC-AA96-4F20-8F3B-75618BE9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0.800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55778-A3AE-42D0-874A-860E8C4D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21 103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25D9A-F08B-454E-81BA-A6D90287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09B0C5-4214-4FAC-B43F-275B23E7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0.78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F27F2-BE47-4262-B82C-194F0F95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717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A11522-4481-4F4E-91C6-6359895B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F6F7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4E8852-3ECC-4BB5-A807-BEC67B2A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239EF-1BDC-46C2-9496-0FE021B3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0.735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179309-60AA-4636-BCCA-16E3A014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12 603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E01F7D-55FA-4034-9BF9-30E0B6C9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0FEB32-B752-45EB-AD33-FCB2F0BD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0.74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F8749-FC43-45C9-B674-9C0A9FD7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336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8E84B4-FDF0-42EB-B247-B723CEE7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F6F7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A3F29E-15A5-41DA-8E98-FF93CC0E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DFEF31-03E9-4D8C-91AC-A3BD72C1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0.593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7884B9-A6C6-43FF-8CC7-F447DE79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956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18 268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1F3DCC-A806-420A-A6EE-8FB2E794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4A3724-2BF3-48AB-BB22-70EE4803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956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0.86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7B14C1-31F4-4EE5-BDC7-7C1B1215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956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D639CA-808A-4BF4-863A-AA6D7F8F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F6F7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CE9014-C23C-4476-BF61-C80408C7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Люблино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C28AED-E569-42AD-92D1-DB9E38C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575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0.571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F15CDC-C05B-4BAD-A671-A8DAFAA9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575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9 891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6E5B8D-E26E-404D-A432-461F5631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6B3DE7-1C0C-4A9B-BEE0-CA26E99D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0.75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65294F-2EC8-4BA0-94BE-EDA34A6A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575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E667F3-A770-48D8-B2E3-5BC52852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0C2605-DCA4-4505-A9D9-F55ADCCB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Очаково-Матвеевское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2163AC-9AF7-4501-9DDC-F5DC317E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195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0.444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A75123-0F1E-4D25-8B62-038BEDEE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195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7 415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6AF352-6586-4B1D-9EF6-E584A0D2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95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BD0C5E-6E7D-47CE-9178-8B32C89D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0.82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88AF9A-6E43-43FC-9481-EF3006D0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6EEEBD-4B47-4EA9-B679-1C5DC4B4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78AFE8-6BC1-47C7-9D5C-12CFD723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Обручевский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B6C4FF-4CAE-4DAD-ACFB-04F0C4D8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814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0.415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11C55A-2472-4EA5-907C-47831D80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13 794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C83DB7-8540-4727-8A49-E6A20CEB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814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82310A-6826-43B4-A97C-ECCCB691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814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1.03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55999F-C81C-4B3B-A8DF-02CD1AAC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814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4ADF95-AA40-4D57-A0C8-C7777B60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E2AE8E-5802-4A38-ADD6-792D2CEC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Хорошевский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B11468-70A8-4193-A870-4026C951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0.380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B56C2B-AD84-4A8F-9C32-261C55EE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434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7 555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A0FB3F-E2D4-449D-9632-11771CF6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3B6DC3-7239-4344-A792-B5BBB9B4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434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1.15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6D94BA-E0C0-471F-AEF5-3AB0CC1D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434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F9449A-B4C5-49CC-8654-DEE0D7AF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348015E-A56A-4D88-83C0-3397356A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Южное Бутово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D18ECC-7F2D-4315-8906-90BEDAA7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053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0.378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317923-5761-464A-9847-1248B9CD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053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7 802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0536E7-94C5-4936-ADA6-317F6620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E4E18B8-4C4B-40A3-9327-DF439408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053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0.72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B3451C5-5F13-403F-BEFA-48D22C44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053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7E822C-4C7F-4468-B611-6DB300CD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D39BBF3-91C6-40F1-8D71-F67B14D0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Строгино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0F33AAF-3511-4235-9E20-F337A142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673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0.370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5A5BF1-AA53-4E0A-A351-839FEABD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673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8 549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B3AFE19-33EE-454F-9EA9-7C6A3341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BDA56D9-EB4B-4389-8F4B-97F6B7B5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673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0.90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44C9F45-5392-4E32-875E-EE018B02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673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A2C046E-6ED9-4F3C-9773-26150FDA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70CCAB4-48CB-4DDA-B206-C958FD76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Левобережный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C16CE37-4860-491B-9567-6AD9DBD9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4292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0.282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BFB5FE5-3B8B-4560-A1A7-3D3D2F5D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29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6 637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3B7A3EA-B338-411D-82F3-EC968143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29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9D6B447-D8A0-47E5-8ADC-84F984C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0.93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5B91940-076C-49E4-8BB6-31032825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4292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10831CC-2245-4669-9137-932D3F64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57400"/>
            <a:ext cx="1200150" cy="2876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6E8CBFD-1CD1-44CE-BAEF-743EEECC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3050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8C"/>
                </a:solidFill>
                <a:latin typeface="Aptos"/>
                <a:ea typeface="Aptos"/>
                <a:cs typeface="Aptos"/>
              </a:rPr>
              <a:t>Как читать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C8F5A9B-C047-4FA1-9A13-C34B2E8C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86050"/>
            <a:ext cx="781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Балл сравнивает районы между собой, а не показывает абсолютную прибыль точки.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8D3FD8A-5EEF-46A6-BF0F-CBD81EFA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17195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Топ-4 выделены как зона для первичной проверки.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54CB299-5210-490C-8F5F-034F4455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Источник: data/processed/location_scores.csv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6A989F3-0F8A-44A7-BE9D-546D6FF2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C62BBC0-B792-42C4-AC71-A158E986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937325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3C49EC-D857-4394-B148-33F0C40A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C81FA-590D-4AFD-8060-EC7C2BC8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B9206-773A-4A3A-9589-DE991A34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6A763-547F-4DDA-9D0B-8131A588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Из чего складывается балл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859A0-60C3-4556-8E7A-3D7BCC81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Вклад факторов показывает, почему лидеры не одинаковые по логике выбора.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14B9B-DDFE-4761-8F3A-8ED821C8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B616E-73D4-495C-B17F-4FF35DB8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24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97D3B-6CBF-4429-A7BB-8FCB3E26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24050"/>
            <a:ext cx="270867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BF046-FEA5-48BF-9BC3-D15741F0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172" y="1924050"/>
            <a:ext cx="154781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1808F-A77E-4F71-83F8-F8D58F36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984" y="1924050"/>
            <a:ext cx="998339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A5BEF-46AE-4FA5-98A2-8AEF3EF1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323" y="1924050"/>
            <a:ext cx="93642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CA9B4-CA7B-442A-A823-9217521A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0.800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EDDA3-C2A9-4BAF-BCA3-2E5E66C3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491D0-0196-4A6B-BE19-A8F2C1A9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336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56608-950C-4F34-ABED-7410D71D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33650"/>
            <a:ext cx="1114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E93AC-5494-4D0D-8DCA-BCD0811A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33650"/>
            <a:ext cx="2321719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C88B4-A41C-48EC-9BA5-C1F9D5C6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644" y="2533650"/>
            <a:ext cx="110668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1C4B7-2C5B-4736-AB3B-FC42691F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330" y="2533650"/>
            <a:ext cx="113764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1CAB2B-D300-4C16-A5B8-7D5D28F0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0.735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E62F6-65CB-49BC-B59D-C235D4B9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951FA-94B3-4E03-837F-A84ACDB8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64F0A-B728-4F05-9306-41B190BD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217467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EA272E-D1BF-4496-9D47-9BB9C465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177" y="3143250"/>
            <a:ext cx="77390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F50234-6A9C-4E2E-BD8E-26152B63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083" y="3143250"/>
            <a:ext cx="78164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0420B7-A783-4F0D-8006-1DFA3FE7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728" y="3143250"/>
            <a:ext cx="85903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9FDE4E-52F9-4439-81A0-E7AB546D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0.593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335A0B-1377-4E8A-95CE-91340F50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Люблино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4574B2-F27D-41AD-94D1-E486DA88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6756F2-E6B5-49F0-8564-77D42709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61138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8903EE-99E8-41DD-950E-FADA329D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886" y="3752850"/>
            <a:ext cx="154781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CBC3AF-E15C-4CA2-93C3-7F598135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698" y="3752850"/>
            <a:ext cx="1083469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3034CC-0402-4FAD-B89C-D37A445F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167" y="3752850"/>
            <a:ext cx="118407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D6BB2-33B1-4462-8718-DD436645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0.571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C88938-1F12-4F78-989D-0362BFFC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Очаково-Матвеевское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9F6366-08DE-4F93-AD7A-E709814E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624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E85F4A-33C1-4E00-B7B1-4578E7E2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62450"/>
            <a:ext cx="14704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2D9487-65B9-4CB7-A932-5BC0A764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542" y="4362450"/>
            <a:ext cx="154781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7E1455-8FA7-4C62-8D66-99C96516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355" y="4362450"/>
            <a:ext cx="88999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B4ADD2-715D-400E-A0AF-0B48E645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347" y="4362450"/>
            <a:ext cx="85903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A2DDD5-0950-4E84-92E0-4CEBE78B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243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0.444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0B9783-C0BE-4565-9A97-1715CF76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C02288-4317-4A08-A662-09D83ABE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05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Плотность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DDC1B5-C917-4DC1-B2EA-E4026814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DBF1AC-42D2-43FE-A4F5-F2983F5E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05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Трафик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147874-DB8D-4D27-9B80-949CE0DD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43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8684FE-B488-4FE3-838F-3A91CBBD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05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Аренда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6C3BC4-932D-46C3-93D8-4C10C249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6C8F5C-1588-4ECE-96AA-75D332FD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05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Конкуренция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DB9F54-38BB-4401-AFE0-CB5F8C45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85950"/>
            <a:ext cx="1619250" cy="26098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93EA12-7365-4ACE-8178-F9F9FF0F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098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8C"/>
                </a:solidFill>
                <a:latin typeface="Aptos"/>
                <a:ea typeface="Aptos"/>
                <a:cs typeface="Aptos"/>
              </a:rPr>
              <a:t>Главное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55B5D5-EE11-422F-89A7-DB235174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52700"/>
            <a:ext cx="114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 выигрывает за счет плотности. Ярославский держится рядом из-за трафика и низкой аренды.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9EA855-ECE7-4EA4-A060-B3D83E7F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481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Отрадное сильное по спросу, но проседает по трафику и конкуренции.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E9CDE2-489B-4B99-802B-FC99E869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Расчет: нормированные факторы из data/processed/location_scores.csv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A1C4E0-E279-4743-B2FF-37BBCA71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4CE2E5-1E71-4BF7-B22D-3D16C718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317440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6345A2-0FCB-4B5E-93E8-C8B6563B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CD242-2481-4D5A-A5E8-3BA1C476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7B0DB-645A-420D-A3DC-7899F5B0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E3254-6041-4452-B30E-9AE3422D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Конкуренция не объясняет все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8A00D-BE5B-4560-B087-D51C8B17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Проверка гипотезы: меньше автомоек рядом не всегда значит лучший район.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83F0A-3501-4687-9501-9DC67B0D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Южное Бутово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57DC7-E978-4CFD-9EE1-37E1A1B8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81175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35924-7EE7-41E8-8797-F5B063C7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81175"/>
            <a:ext cx="119322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EA643-D78E-4F97-84FC-B439DB48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473" y="17430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4D859-C4F7-4E5A-94FB-742DA285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Хорошевский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A987A-6A4D-446B-A93A-238B8433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95500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151F2-1D79-46C7-AF0F-CFB4C12D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95500"/>
            <a:ext cx="192751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2893F-E2FB-4E6A-AD4A-9065EC1C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764" y="20574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82417-3FF3-466B-B27F-F445594F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Люблино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BA3C4-4EC2-46FE-8061-B39084A2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9825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C2E68-8D2A-4FC1-97D7-42BEE496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9825"/>
            <a:ext cx="2019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3CC55-55BC-4BBB-8C17-1EA2205E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717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BBA97-554F-4FA2-B5DE-663EF1AA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30420-3689-4BF1-A154-8D793BCF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63AA5-2C45-4367-8B3A-FC4C2BDE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211108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34C08-2AF6-4A31-9FE1-EC94E1FB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336" y="26860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0BB827-1B53-49A4-9C67-120438DF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Строгино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75E8C-0E05-42DC-904A-4CF06BA1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38475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AB5FE0-D886-4A24-8FCF-6CF7B539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38475"/>
            <a:ext cx="22946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D20B84-9906-42EF-B8A3-5B01525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09" y="30003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D7856B-345B-4C92-BAD9-4579CF8B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4327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E68EC4-7B73-4C8B-8D73-C59A4A9C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52800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4E768D-EC3D-4D39-B111-0FD5A328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52800"/>
            <a:ext cx="257001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9B128C-1B0A-4C92-B710-98555736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268" y="33147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C084EC-CBED-4E15-836E-AB839453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EDED14-7AF4-4B59-9DDB-FBD6D35C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67125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A4E545-8AC1-4855-A130-E5858379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67125"/>
            <a:ext cx="275359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0016BB-5ACA-4084-88DE-994888C2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41" y="36290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575079-8D07-45D6-88C9-8D5A7C52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Очаково-Матвеевское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482CAB-2C6B-4276-AA57-6E7DA6A8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81450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20CDEF-5E50-4495-9DC2-B0656604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81450"/>
            <a:ext cx="275359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709618-5C4F-4B5F-8C28-34158BCC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41" y="3943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F17118-2E21-4F08-AD20-7460B53E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Левобережный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7BDA9C-8374-4ACC-ACB0-63956BC7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95775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2656CC-4320-4DE5-AF0D-37DA5513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95775"/>
            <a:ext cx="284537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8E7511-7892-4D1A-8A58-2E13B779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627" y="42576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36EC73-3F72-4271-B88C-0DCE6571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Обручевский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0DBFC4-C799-4227-95EF-7927ED5A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0100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F68353-A8B6-419D-8393-FB6A6867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0100"/>
            <a:ext cx="468110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AC8FC5-FD0F-4E88-AAA9-5D0A9FD4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355" y="4572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A9CC6C-3A74-47CC-BCB7-74397A51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2667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9E4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53EC94-617E-49E7-BBBF-2745EEA1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3D6654-0F87-495B-95C5-7353A581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6690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Группа с меньшей конкуренцией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281F55-D16F-436A-B263-69E59185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47900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5 районов, средний балл 0.487, средняя плотность 9 280 чел./км².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9DCC68-1803-4E9C-B526-8A44AB00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2667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9E4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A78822-8641-469C-A04A-42ED34D4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8E281F-C8C1-44C1-8E6E-C5654BD3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575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Группа с большей конкуренцией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C7BA80-E042-4A93-8053-5122EF34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38550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5 районов, средний балл 0.507, средняя плотность 13 443 чел./км².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C68E7F-B852-4B51-AFC5-502F956B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8420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439FEB-81D4-48A5-8C5B-AB235396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29250"/>
            <a:ext cx="775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Вывод: конкуренция важна, но в плотных районах она часто идет вместе со спросом.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616163-E05F-43F5-AF90-D0DAB504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Источники: OpenStreetMap Overpass API и расчет расстояний до 3 км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EC06224-2D71-4724-B81D-DA1B23DC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44CBC4-DF52-47A7-836C-36B17E56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184812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BA36E9-9120-48ED-B1D8-A045F61C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C8C2B-CCE3-4A3A-A597-69D2D34D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B5A20-8C08-4FD2-A524-9438D557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BB8C7-7A80-4E31-AA13-CAA8C6D9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Спрос и конкуренция на одной плоскости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3F18A-662F-4755-AF73-FD07E90D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Так видно, какие районы дают высокий спрос при разумной конкурентной нагрузке.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CD7CB-9DAD-4EE0-9CA0-B7064E8E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33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82DD9-C84C-4E66-A4B1-EE917B91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86579-7C48-48B9-BECA-1F88454F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335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2F091-F14F-429D-A23C-9AE0FDF9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335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DAC96-429E-4AB2-92D8-BC2C2C93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85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8C"/>
                </a:solidFill>
                <a:latin typeface="Aptos"/>
                <a:ea typeface="Aptos"/>
                <a:cs typeface="Aptos"/>
              </a:rPr>
              <a:t>зона интереса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D9B6F-514F-47CF-A730-A70409A5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55108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C5BF8-D19D-4C0C-9654-2BA97F55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07483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215DF-2115-42F4-876C-4BB870B4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85187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9A437-7EC4-458E-9E28-A1B0F6AB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37562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16239-0B8D-4899-8CE5-DEC7F650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44233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7CFB9-9126-4D4C-9390-4C0DCB68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96608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9CD87-B374-4D7C-87D0-610664E0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469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0F1C1-BC23-4FB5-807F-3C099BA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993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Люблино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B8AA5-EEC4-41F0-8623-2EAF5B92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797266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9AD1A-7AE2-41C9-AA31-AB16BC73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78191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Очаково-М.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8130F-74DC-4B48-B912-6BBB084F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9534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8B625A-BACD-464A-879E-8059182E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331909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Обручевский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DE40E7-29ED-47E7-9318-DE2F7F2C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11256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72A35-32B5-4473-AFDD-2600CC26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663631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Южное Бутово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45DA79-95F6-4C05-8AF5-348DD492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66151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DA825-5761-4F86-ACB9-D35E93AF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32776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Хорошевский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BBF78A-1C6F-4723-AE97-209E101B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4523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756C1-73CC-4232-963D-76333B17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4046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Строгино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7AC9E5-AC02-46FB-B7AA-3DB5599B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70177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9F352D-FFCE-48B3-B258-7AFDB666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770152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Левобережный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21119D-DAC0-4FE2-A4D7-364FD584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768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Конкуренты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5B97B5-B559-463B-A400-30C3BE93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43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Плотность населения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C49BC1-C292-4FF1-A957-6E7A591C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52650"/>
            <a:ext cx="215265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E84109-E145-40D6-B2AC-B9F04A34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8C"/>
                </a:solidFill>
                <a:latin typeface="Aptos"/>
                <a:ea typeface="Aptos"/>
                <a:cs typeface="Aptos"/>
              </a:rPr>
              <a:t>Чтение графика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3FAD35-B2D0-4F15-B389-FD53C5DD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43200"/>
            <a:ext cx="1504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 находится в верхней части: спрос высокий. Ярославский ниже по плотности, но выигрывает по трафику и конкуренции.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D9DC31-121C-46AB-BF22-4BEF8B16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Источник: data/processed/location_scores.csv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0F6D60-A3E8-4052-BE6F-B6EDFE84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7DC14E-F161-41F5-9041-90062DFC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02630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B7931F-FCE5-496B-B367-10C50E6B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9B6F9-A266-4088-8400-13C5A2F1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DE3EA-71A8-4B28-8101-0AFF6397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ED177-188D-4486-8E59-3D8D67F1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Проверка устойчивости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E1E22-C8D6-486F-9779-17A2AD40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Если поменять веса критериев, лидер остается тем же.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D98C7-E0CA-466E-ABE3-5FDF460D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2343150" cy="32004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EF6F7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4075A-6799-487A-809B-A83FA89D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Базовая модель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6388F-D376-4AF2-833E-43ED31C6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Веса: 35/30/15/20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8BAA4-5356-4064-AC8F-E217C53F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6808B-DF50-4A92-AAE9-6CDB95FE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4D46D-CE26-4D2D-ABED-7F410277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146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A3C3C-9E54-4D96-9CED-0F2DB2E4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527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0.800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1CA96-A892-485F-8548-33C14CE4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3E885-22B2-4A42-999D-59EA52AC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1002E-B4AB-47A8-9C10-FB44F73E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051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F159B-3AD7-42AC-93CA-6A6B649C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43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0.735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9E90D1-CD36-421E-B288-9530AC89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EA20D-A365-4F37-AE36-93ED99FE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F9DFC-AB3C-4FE4-878B-C78515FE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957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63F45-077C-431F-B3C1-6E66288D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338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0.593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CCD65D-829D-4D32-82AF-AD0CAFA7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343150" cy="32004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7685FF-6F38-4E37-8773-ACB13FA6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240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Спрос важнее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6B8763-8499-476E-86A0-20ED8030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Веса: 45/35/10/10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14132A-2D3D-408A-9D65-DC6CCFF4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3E771-FDD2-412A-9A1E-6602B59D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03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DFF2D7-F875-4323-823E-E00F0261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146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DB4782-7299-41A6-80FB-5E688CB5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527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0.830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5D4C4A-029C-4508-A881-B58E0E6C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14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05AF21-263D-4198-88AC-AAC59075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F0F16E-D24E-44E2-9628-700C2EC2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87A03F-B073-4889-A00C-13B56767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43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0.705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C7C401-E5EC-471C-B17E-2D25764C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6D8B84-D7F5-4056-80B9-A4C37AC5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814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E0241E-A3DF-435C-A580-67AD2101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957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92EDF0-5F77-4776-8EC2-6DB5FCC0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0.601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13C1C5-D33A-4A26-8B7D-6AD99568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2343150" cy="32004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9DF210-2A5B-492D-A091-451A4344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240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Меньше риска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3B0138-7A89-4600-8018-86584BC7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479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Веса: 25/25/20/30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96B32F-414C-4EF9-93C5-2844DD40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241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36F58F-8489-47B0-AF8C-0A3AD06F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A2079D-D958-4F78-AC75-66934DCD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019968-21CA-433B-9363-1A0BF221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0.770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F9244F-8E47-4D64-8ED9-9E8479E7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1B82D0-F896-4832-8F2D-B2715D1F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09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90CD5-0040-4FCF-8F89-37AC7736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051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0269A0-78C8-481B-A275-F6E7BCAA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0.765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6CB66C-FAD5-40FA-B1F7-89AE567D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569A3A-AE5A-4DA5-8F68-97C7500D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814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250476-AAA3-4573-96E5-89BA47E4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957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Люблино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39029A-E802-439A-A43C-1D36D89D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0.638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9BDF5E-20F5-4708-83A1-1C23CA5B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57350"/>
            <a:ext cx="2343150" cy="32004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4A6944-40D8-464A-BFE8-E5E70541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240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Аренда важнее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6AD7C3-7A05-4F58-B3D1-7D11ADA0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479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Веса: 30/25/30/15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CA7464-6237-4003-A35B-67E491FE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241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C6F232-D05C-4020-AA27-B991B890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003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7AC2F0-3C71-40C3-93DD-778B7F8E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146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0309E3-AE6C-436B-B499-E6625D4F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527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0.816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E17474-D983-4064-8D8C-961883DC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14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34AAEF-1786-4EF2-BBBB-8F17FA05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909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50E90D-116E-463C-812B-92B1A9E7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051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2101E7E-C6BC-4C21-AA88-39ED58E2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43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0.770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659A2E-7095-4A35-B18B-F586F17C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052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6277CD2-D2C0-4823-9B4E-9B44CA21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814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A808A1D-E60D-4FE5-A199-E80F7053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957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Люблино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1FC49A-B799-4600-BB20-4DCAFE94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338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0.628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C1A964-CDB7-4E33-A89F-D3E30A3D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14950"/>
            <a:ext cx="7048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0CFC95-BDDC-4034-9D90-1240035D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48300"/>
            <a:ext cx="636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Марьино остается первым во всех сценариях; спор идет за второе место.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3280AF7-530C-42DC-BCCE-94B12D8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Проверка рассчитана на тех же нормированных факторах, менялись только веса критериев.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853CF6C-71DB-402F-9D20-0A22E9DF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C29B6A8-9EED-403A-A5A5-E421B6A8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046392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673417-8693-4118-8E65-B93726C6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71F12-3AC9-4A61-919E-7FC1C0CC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9A9C4-FCF3-49C2-83D6-F03BE7DB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4BDAB-6595-41FB-9A50-C944CC44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Юнит-экономика точки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6A1F4-DDF0-420B-AE75-339F34B3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После рейтинга районов важно проверить, сходится ли экономика одной автомойки.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5A228-7A99-4E09-85E6-B38DB818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02B81-E259-4146-8CA6-D57B1A98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D8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F7D8C"/>
                </a:solidFill>
                <a:latin typeface="Aptos Display"/>
                <a:ea typeface="Aptos Display"/>
                <a:cs typeface="Aptos Display"/>
              </a:rPr>
              <a:t>950 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B3176-6162-4771-9CB6-67CF0697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средний чек одной мойки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78D19-CFFA-4539-A9DC-252334A9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6210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A4B1F-65CF-4BE8-A0DD-E0E185F3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716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A76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D9A76A"/>
                </a:solidFill>
                <a:latin typeface="Aptos Display"/>
                <a:ea typeface="Aptos Display"/>
                <a:cs typeface="Aptos Display"/>
              </a:rPr>
              <a:t>220 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67FD7-3AB1-4246-8FEB-9418D185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переменные расходы на мойку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64E35-E28F-42B1-8DD4-BC8A6642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6210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CABE6-294D-4A9B-A85B-D43308EE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716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E8C61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5E8C61"/>
                </a:solidFill>
                <a:latin typeface="Aptos Display"/>
                <a:ea typeface="Aptos Display"/>
                <a:cs typeface="Aptos Display"/>
              </a:rPr>
              <a:t>730 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3639A-706C-4C89-B4E3-017CDFFD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маржа с одной мойки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95B60-BD38-4FC3-A094-CE79E8CB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6210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E9368-C08F-4E6B-B9D8-2E5E689B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AA6B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5AA6B3"/>
                </a:solidFill>
                <a:latin typeface="Aptos Display"/>
                <a:ea typeface="Aptos Display"/>
                <a:cs typeface="Aptos Display"/>
              </a:rPr>
              <a:t>624 тыс.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23EDE-B890-443A-BF2A-735AA455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фиксированные расходы Марьино в месяц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0E960-39AE-49CC-8B50-E0B8B92E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48768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B57493-6B6B-4CBB-B867-CCF92578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Как считалась экономика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AB681-4AF1-4300-BC96-B9B75D71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624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CDE015-9CC8-436A-A844-0670248A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9097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A4E61-1358-44AD-8FEE-6E5896E4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оценка моек в день по спросу, трафику и конкуренции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65E08-C0CC-4C1E-94A4-5099042D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243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1D37C1-BEA5-4F1C-B5C3-090ACCF6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5292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1CDBB0-8322-4FE1-A90D-BA293C81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выручка = мойки × 30 дней × средний чек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5D3292-339F-49D4-AC4C-85078BF7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863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CAB0A4-EC78-4913-B37B-9EBF342A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1487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CBB9D7-2BAA-42C8-80BD-54B986EE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прибыль = выручка − переменные расходы − фиксированные расходы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0F2709-D048-41D1-B5A9-87FB5FBE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482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B4F08A-C9BC-43FB-A039-9DDF8494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7682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3E5D5C-577F-415C-A78C-53017CCF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292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окупаемость = первичные вложения / месячная прибыль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DB1674-0A8A-4014-8E1D-952D9184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57550"/>
            <a:ext cx="4095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818341-2894-4063-B9F6-8BE685CA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62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 по расчету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F9E404-6D2D-4457-9CCA-933F856B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95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8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7D8C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A7A3D9-F041-4D75-891B-EF59E6AA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815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мойка/день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57549D-7BC0-45A5-A353-53AE2646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95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1.74 млн 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4084F1-46F5-460D-AE84-9EB96A69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выручка в месяц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D0A1CF-E879-438F-9965-8026568C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24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712 тыс. 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7EFFCE-C7C2-43AD-8A42-48716459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101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прибыль в месяц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6B0D18-1DBB-48EE-B05C-26D430C4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24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8.1 мес.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2FCC28-F71A-4681-BF79-0E67ECD7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101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срок окупаемости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9A222B-5709-48F6-A780-D964A1C0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Источник: data/input/unit_economics_assumptions.csv и data/processed/unit_economics.csv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8E133C-C8C9-4385-80E4-807D3604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0D3DA9-E798-43BC-B86E-4B0B7E22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039401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79482-E1AA-416D-A0C4-2F615113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7BC40-2B72-46EC-AF43-65EBA6E6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A59E9-13F1-40CB-889C-35C30BC4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CE29C-BCD5-4B1B-8381-9313B641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Прибыль и окупаемость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50AF8-B7F5-4E16-A6AA-B715F2B8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У лидеров рейтинга экономика тоже выглядит сильнее, поэтому рекомендация не держится только на баллах.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42399-B1DC-48AE-B843-2C847D4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172F9-2A8A-484A-A0A1-8DA020DC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621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7B1EC-9BCC-4F68-AD68-5227217E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62125"/>
            <a:ext cx="489796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2CE27-C5D0-430C-A380-0A9DC05E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017" y="17240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712 тыс. 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97422-1402-496E-8533-BD1B65D4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2402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8.1 мес.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FECE7-6413-4D4D-8F1A-AB7B7BA2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F9BB3-D0BA-4E5B-8CDF-CE5130FD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955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ADDCD-94B9-4E45-A96A-974943E4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95525"/>
            <a:ext cx="452649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1D598-7FB5-4F1B-B7D0-0E94AC05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542" y="22574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658 тыс. 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5BA00-30C9-4277-A54F-8446B9E6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5742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8.8 мес.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43688-3C30-44BC-B213-7DCEED84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FB277-7B17-49D4-A304-A34CEE5B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289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4BC54-03FB-4151-B154-42F908F2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28925"/>
            <a:ext cx="368035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6BB09-45CF-4686-94D9-C355DDC1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404" y="27908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535 тыс. 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4F944E-C7C7-491E-B9F1-C704ABEA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9082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10.8 мес.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5DC86-15C0-4CBA-B56F-1BC263FA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Люблино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02D282-2FF6-460B-A716-69FF7C49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623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262A03-8D8F-4BBE-BDD3-C73A667E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62325"/>
            <a:ext cx="345334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23BC1F-E383-4839-998F-4D5A0771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0392" y="33242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502 тыс. 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B2834A-B17B-417E-88A0-7307F3FB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2422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11.6 мес.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2B5EC6-82B6-432A-98C1-0144891B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Очаково-Матвеевское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124A5A-D6EB-4571-8E1A-A604580F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957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F189A2-209E-44CC-9430-DA9AFB66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95725"/>
            <a:ext cx="27035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D14403-C35E-4CB5-96F3-56E91503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562" y="38576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393 тыс. 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A35832-95D8-49B5-824A-58EF73B3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5762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14.7 мес.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163681-DC10-4E5D-92ED-68EEB3EA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Обручевский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FD98C1-AE76-40F1-A5A6-D9E17D3E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291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75DA49-EA38-4E2C-B7F1-C7BFB2CA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29125"/>
            <a:ext cx="257280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AE4FFD-94F7-41DC-B6B8-7111DEB7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858" y="43910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374 тыс. 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FB38EC-FDDF-4668-B9F2-BFFFB447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9102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15.5 мес.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931CD1-B2CC-4327-9D17-23D23EB0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29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Прибыль в месяц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05C5CC-02AE-42B1-8855-804EEF4F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525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A80"/>
                </a:solidFill>
                <a:latin typeface="Aptos"/>
                <a:ea typeface="Aptos"/>
                <a:cs typeface="Aptos"/>
              </a:rPr>
              <a:t>Окупаемость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8D04AB-FBB4-4EB8-9DDB-72EBCB95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67350"/>
            <a:ext cx="97917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478F28-5945-40CE-8660-E3EAE53C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10225"/>
            <a:ext cx="902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У топ-4 безубыточность около 28-30 моек/день, ожидаемый поток — 51-61 мойка/день.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3F9BE9-817C-4D43-8DD2-E7D44B01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Источник: data/processed/unit_economics.csv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D5E6BE-04E5-4E92-9F44-0ACB79B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C4A4FC-4EE3-4520-80EB-63B9312F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233170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DF5CA4-ECEF-4EA1-AD41-99FECCB9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DF92A-C766-41B9-8533-80C54FA9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0F392-D0BE-4235-BF0F-2603C80C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79AA0-68F3-4082-AB26-AD691B4F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Короткий список для проверки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6E773-F86F-4C5F-A2A3-2AE10CC0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Рейтинг сужает поиск до нескольких понятных вариантов для выезда на площадку.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2006E-95FC-42C4-A957-3914197D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30670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EEF6F7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52AA1-2567-4168-ABE2-5C9A6028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D5ACC-55DD-4B25-8F53-7987C017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40F11-146D-4EA6-B30B-F1EEADB7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96DC1-DB3F-469C-A67F-CE18FE22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47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8C"/>
                </a:solidFill>
                <a:latin typeface="Aptos"/>
                <a:ea typeface="Aptos"/>
                <a:cs typeface="Aptos"/>
              </a:rPr>
              <a:t>балл 0.800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F39BE-0449-498E-A7B2-07077C2C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лучший общий баланс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C05C1-B2BE-4AE9-AB5C-FCACF735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E68BA-5D5E-4E2B-AC5C-A34AEBCE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плотность 21 103 чел./км²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B04EB-A949-4960-A07F-7004BBA6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DDF5B-0E96-46CD-B070-D8930AC1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трафик 8 из 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CFC99-AA75-4F6C-A5AF-BF4231E0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7B526-602B-40FD-A3F3-2DB72676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28 конкурентов рядом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4CE04-1254-4AFF-943C-454DDC8C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76400"/>
            <a:ext cx="30670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DEF3DE-2B4C-429D-B541-57DAAAD3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43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5A6FE-9DFB-43C2-8908-559CEAB4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C532C5-63AF-4E3F-871F-5B3C5739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24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B493DE-64DA-43B0-BE66-BE54C238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47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8C"/>
                </a:solidFill>
                <a:latin typeface="Aptos"/>
                <a:ea typeface="Aptos"/>
                <a:cs typeface="Aptos"/>
              </a:rPr>
              <a:t>балл 0.735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D483F-8CBF-4DDA-94EF-F93F1BBD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сильная альтернатива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96EFF-50F0-4F11-8D54-C978432E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38C7C8-863C-43AB-9456-8635E3D3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289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трафик 9 из 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B49D8-AEEB-4192-8A8B-E806B93F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997B9B-9A84-496C-8EA3-1C18115F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528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аренда 0.74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58E6A0-3FD5-4F09-99AF-8CA94C7D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9BF4DC-745C-4881-8A06-35E16DE6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23 конкурента рядом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6C75C4-4999-4BD2-B42B-F083DE9F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0670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55DC01-10CB-4CE5-8653-DB94F485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9103BE-C26F-4F80-9EC3-5759105C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10B656-4F12-46CA-8E12-6D05ECD5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E0BA60-EB4B-4D18-A152-C61B737E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47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8C"/>
                </a:solidFill>
                <a:latin typeface="Aptos"/>
                <a:ea typeface="Aptos"/>
                <a:cs typeface="Aptos"/>
              </a:rPr>
              <a:t>балл 0.593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7889D8-2367-4B6D-8650-277FD250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дополнительная проверка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AEAFB4-8C24-49C7-871B-4BA662AF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1694D4-3928-466D-B46A-4E10B9B0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плотность 18 268 чел./км²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EC3018-CE6A-4D26-90F1-E2046D58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F9BB79-8B11-45D0-B344-306FDB64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528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трафик 7 из 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A6F8A5-87EB-47A0-B641-E34B00F6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B55356-ED20-48E7-A6AB-DD491E10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766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30 конкурентов рядом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64F528-CF6E-44FE-8645-64ADDE26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97917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24D89D-FE06-4016-915E-450D5E39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863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Перед финальным выбором площадки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5A92FC-C7B2-44B7-9C4C-35340DBE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53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проверить въезд, видимость с дороги, аренду, электрику и фактический поток машин.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40F3B5-2375-4636-8F43-F5BA0F3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E32451-6BE2-4F82-B380-891D46D6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9562305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6D299F-092B-4381-B617-3F2794BD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FDDB8-F881-4E3D-8B09-3A161249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F29E3-815D-45AD-9B95-87299DAE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965A2-CDDD-46DF-9BBB-2C326C10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Состав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46AB8-2A9A-4811-9ACA-0C7EF66C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В работе показан полный путь: от идеи и источников данных до расчета и рекомендации.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0AB7D-9B5D-4BB0-B7C2-0FF87205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44577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7DED9-D7EC-452E-AC10-86D355CD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33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D707A-39C1-460D-B02F-77B73C53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907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1F01B-67F8-49BF-8351-B7610691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669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Идея и индивидуальный анализ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F915F-3458-45BE-A466-3A150FD2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145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выбор района для первой роботизированной автомойки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F7670-AA12-4A27-93EC-5CB49573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4577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00CC1-5EB6-4CD3-B4F7-5DA4459B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33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DBA14-6299-4D63-BBA5-8945BB20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907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26300-9A7F-4A43-9090-FB4BD5ED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669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Открытые источники данных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6DFF0-CC57-414D-BAD8-F6C190EB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145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PortalWash, OpenStreetMap и справочные данные по районам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DC9EA-DD9A-4F96-B381-DAA9ADEF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4577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58A6C-0B48-4C87-A71A-6C5F4D70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52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02781-3C11-48CD-A6F2-7068CF23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99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CF25D-7817-4FAF-8ED8-D508F029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861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Сбор данных с сайта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2505C-CFC1-49E9-961D-96BBD4EB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337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requests + BeautifulSoup для адресов PortalWash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0D7E6-35C4-4320-B351-AE8F14FF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14650"/>
            <a:ext cx="44577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188914-4A49-4A1C-8EF6-8946C092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52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38ACE6-8C03-4D38-805B-496BD068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99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D48EE-0C5B-4251-874D-99DADE09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861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API для геоданных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B24E3-3EC5-43BC-9628-7EB4AE87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Overpass API для выгрузки автомоек из OpenStreetMap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CD7500-A247-4C2E-9B39-145EA03B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4577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AB1C6B-DF00-456C-A689-84096D64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719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471917-D1C2-4F25-82AD-A50214D3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291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926E89-3B72-44AF-909F-A4DDEABB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05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Расчет показателей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BBCC58-62ED-40D2-957F-4DE9D5C8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pandas, расстояния до 3 км, нормализация и итоговый балл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44A793-6083-46F5-B3C6-FBC4527C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33850"/>
            <a:ext cx="44577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6AD214-9025-42A8-AC67-26CA765C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719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5BB7F1-7EA9-42BB-A50A-AAC29F9F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A7A07C-7540-449E-A567-206F1323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05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Визуализация и вывод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ECE61A-DBAD-47E6-BCE3-2147A109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529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рейтинг, конкуренция, юнит-экономика и итоговый выбор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B47034-E022-4E8C-B34C-1E08CB87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89EC17-3430-4D2A-B7C2-A893743B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0691455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311A36-C678-4CBF-8081-F43D25A7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A42C2-089D-454D-A6FF-006F26B5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2F59D-7DEC-4096-B63A-D22928C2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548AC-838C-4100-8F82-87CB9E4F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495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Финальный вывод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F70EA-3460-42ED-99E6-E777E089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4F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AF4F5"/>
                </a:solidFill>
                <a:latin typeface="Aptos Display"/>
                <a:ea typeface="Aptos Display"/>
                <a:cs typeface="Aptos Display"/>
              </a:rPr>
              <a:t>Первая проверка Wash&amp;Go должна начинаться с Марьино.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19E6F-395B-4C53-ABFA-4EDD0332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676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1DE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1DEE1"/>
                </a:solidFill>
                <a:latin typeface="Aptos"/>
                <a:ea typeface="Aptos"/>
                <a:cs typeface="Aptos"/>
              </a:rPr>
              <a:t>Район дает лучший баланс плотности населения, трафика, аренды, рыночной нагрузки и экономики одной точки.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6B8BB-7F04-4A27-93A0-E7A484F8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2114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649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E767F-1595-494D-BE6A-173EA67A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D4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ED4D8"/>
                </a:solidFill>
                <a:latin typeface="Aptos"/>
                <a:ea typeface="Aptos"/>
                <a:cs typeface="Aptos"/>
              </a:rPr>
              <a:t>Лучший кандидат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549EE-235E-4844-A38F-5B66FDA2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07D2A-9E56-44B7-B615-5E9A6386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14800"/>
            <a:ext cx="2114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649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DC8FB-22C9-4358-BF4B-BD9BB77A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053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D4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ED4D8"/>
                </a:solidFill>
                <a:latin typeface="Aptos"/>
                <a:ea typeface="Aptos"/>
                <a:cs typeface="Aptos"/>
              </a:rPr>
              <a:t>План 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95261-4F8E-4ED8-B0EA-1EC281EF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529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E4AB1-7D1F-4FEE-A1C4-D3F6F485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14800"/>
            <a:ext cx="2114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649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73F62-2D3A-473F-A520-35731562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053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D4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ED4D8"/>
                </a:solidFill>
                <a:latin typeface="Aptos"/>
                <a:ea typeface="Aptos"/>
                <a:cs typeface="Aptos"/>
              </a:rPr>
              <a:t>Проверка перед запуском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DC4FB-E25D-4047-AD22-0B8EA474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529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конкретная площадка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2B0A5-1082-429E-9128-3D83EC01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19200"/>
            <a:ext cx="2000250" cy="407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AB0CB-EE8A-400F-B2C2-512CD373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81150"/>
            <a:ext cx="13525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C7E8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4598D-7C18-4173-AA86-93523929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90800"/>
            <a:ext cx="1085850" cy="207645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C8D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FD87B-3AAF-4F33-A09A-CDEC6C4A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768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1CB72-8222-45B7-999E-E37D03E6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7A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A7AD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F8CEA-B082-4F71-86CC-A1FE49F5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EA7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7A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88588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Presentation</dc:title>
  <dcterms:created xsi:type="dcterms:W3CDTF">2026-05-26T19:43:44.3360000Z</dcterms:created>
  <dcterms:modified xsi:type="dcterms:W3CDTF">2026-05-26T19:43:44.3360000Z</dcterms:modified>
</coreProperties>
</file>